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"/>
              </a:rPr>
              <a:t>TODARIDE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070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B8C6"/>
                </a:solidFill>
                <a:latin typeface="Aptos"/>
              </a:rPr>
              <a:t>TODA PILOT PARTNER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595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A safer, smarter way
to connect TODAs, drivers
and passengers.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160520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EE8F1"/>
                </a:solidFill>
                <a:latin typeface="Aptos"/>
              </a:rPr>
              <a:t>6-Month Founding Partner Program  |  ZERO PLATFORM FEES during the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074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D8FA2"/>
                </a:solidFill>
                <a:latin typeface="Aptos"/>
              </a:rPr>
              <a:t>For discussion with selected TODA pilot partners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D8FA2"/>
                </a:solidFill>
                <a:latin typeface="Aptos"/>
              </a:rPr>
              <a:t>TODARIDE  •  TODA PILOT PARTNER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D8FA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01 | WHY TODARIDE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We are not replacing the TODA — we are strengthening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EE8F1"/>
                </a:solidFill>
                <a:latin typeface="Aptos"/>
              </a:rPr>
              <a:t>TodaRide is designed to work WITH existing TODA organizations and drivers.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3383280" cy="246888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9D6C"/>
                </a:solidFill>
                <a:latin typeface="Aptos"/>
              </a:rPr>
              <a:t>FOR DRIVERS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4328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More passenger opportunities
Digital booking
Trip records
Driver identity
Safety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57400"/>
            <a:ext cx="3383280" cy="246888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2128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5A8"/>
                </a:solidFill>
                <a:latin typeface="Aptos"/>
              </a:rPr>
              <a:t>FOR TODAs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24328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Organized driver records
Operational visibility
Digital dispatch support
Community presence
Growth opportunity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57400"/>
            <a:ext cx="3383280" cy="246888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2128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AE3D"/>
                </a:solidFill>
                <a:latin typeface="Aptos"/>
              </a:rPr>
              <a:t>FOR PASSENGERS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624328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Safer booking
Identified driver
Booking records
Support &amp; reporting
More convenience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B8C6"/>
                </a:solidFill>
                <a:latin typeface="Aptos"/>
              </a:rPr>
              <a:t>OUR PROMISE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5102352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TodaRide succeeds when TODAs, drivers and passengers all benefit.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D8FA2"/>
                </a:solidFill>
                <a:latin typeface="Aptos"/>
              </a:rPr>
              <a:t>TODARIDE  •  TODA PILOT PARTNER 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D8FA2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02 | 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The tricycle ride is essential — and the experience can be improved.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5074920" cy="123444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29967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AE3D"/>
                </a:solidFill>
                <a:latin typeface="Aptos"/>
              </a:rPr>
              <a:t>Passenger uncertainty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41448"/>
            <a:ext cx="4709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Where is my ride? Who is the driver? How do I report a problem?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74519"/>
            <a:ext cx="5074920" cy="123444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29967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9D6C"/>
                </a:solidFill>
                <a:latin typeface="Aptos"/>
              </a:rPr>
              <a:t>Driver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41448"/>
            <a:ext cx="4709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Drivers need better access to passengers and organized booking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74720"/>
            <a:ext cx="5074920" cy="123444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30168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5A8"/>
                </a:solidFill>
                <a:latin typeface="Aptos"/>
              </a:rPr>
              <a:t>TODA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41648"/>
            <a:ext cx="4709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Organizations need better records, coordination and visibility.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474720"/>
            <a:ext cx="5074920" cy="123444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630168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B8C6"/>
                </a:solidFill>
                <a:latin typeface="Aptos"/>
              </a:rPr>
              <a:t>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041648"/>
            <a:ext cx="4709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Passengers and especially students need stronger safety-oriented processes.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03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TodaRide addresses these needs through one connected platform.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D8FA2"/>
                </a:solidFill>
                <a:latin typeface="Aptos"/>
              </a:rPr>
              <a:t>TODARIDE  •  TODA PILOT PARTNER PROGRAM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D8FA2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03 |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One simple flow from booking to completed ride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2011680" cy="182880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58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5A8"/>
                </a:solidFill>
                <a:latin typeface="Aptos"/>
              </a:rPr>
              <a:t>PASSENGER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70048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Books a ride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2103120"/>
            <a:ext cx="2011680" cy="182880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258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9D6C"/>
                </a:solidFill>
                <a:latin typeface="Aptos"/>
              </a:rPr>
              <a:t>DRIVER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670048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Receives &amp; accepts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2103120"/>
            <a:ext cx="2011680" cy="182880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2258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B8C6"/>
                </a:solidFill>
                <a:latin typeface="Aptos"/>
              </a:rPr>
              <a:t>TRIP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670048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Driver + passenger connect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103120"/>
            <a:ext cx="2011680" cy="182880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59" y="2258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AE3D"/>
                </a:solidFill>
                <a:latin typeface="Aptos"/>
              </a:rPr>
              <a:t>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59" y="2670048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Trip is tracked/recorded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9800" y="2103120"/>
            <a:ext cx="2011680" cy="182880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2258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9D6C"/>
                </a:solidFill>
                <a:latin typeface="Aptos"/>
              </a:rPr>
              <a:t>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2670048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Ride + records completed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83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The goal: make the everyday tricycle ride easier, more organized and safer.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D8FA2"/>
                </a:solidFill>
                <a:latin typeface="Aptos"/>
              </a:rPr>
              <a:t>TODARIDE  •  TODA PILOT PARTNER PROGRAM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D8FA2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04 | PILOT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TODARIDE FOUNDING PARTNER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EE8F1"/>
                </a:solidFill>
                <a:latin typeface="Aptos"/>
              </a:rPr>
              <a:t>Selected TODAs and drivers help us prove, improve and scale the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46120" cy="251460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9D6C"/>
                </a:solidFill>
                <a:latin typeface="Aptos"/>
              </a:rPr>
              <a:t>6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2880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Founding Pilot Period
Zero TodaRide platform fees during the pilot.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20240"/>
            <a:ext cx="3246120" cy="251460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7568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5A8"/>
                </a:solidFill>
                <a:latin typeface="Aptos"/>
              </a:rPr>
              <a:t>WHAT WE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87168"/>
            <a:ext cx="2880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Bookings
Driver acceptance
Payments
GPS/location
Notifications
Support &amp; safety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20240"/>
            <a:ext cx="3246120" cy="251460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7568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AE3D"/>
                </a:solidFill>
                <a:latin typeface="Aptos"/>
              </a:rPr>
              <a:t>WHAT WE 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87168"/>
            <a:ext cx="2880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Driver feedback
Passenger feedback
TODA needs
Operational data
App improvements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AB8C6"/>
                </a:solidFill>
                <a:latin typeface="Aptos"/>
              </a:rPr>
              <a:t>PILOT PRINCIPLE: REMOVE THE BARRIER TO JOINING — THEN USE THE DATA TO IMPROVE.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D8FA2"/>
                </a:solidFill>
                <a:latin typeface="Aptos"/>
              </a:rPr>
              <a:t>TODARIDE  •  TODA PILOT PARTNER PROGRAM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D8FA2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05 | WHY 6 MONTHS 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A founding partnership, not a permanent free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2C9D6C"/>
                </a:solidFill>
                <a:latin typeface="Aptos"/>
              </a:rPr>
              <a:t>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TodaRide platform fee during pilot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828800"/>
            <a:ext cx="2331720" cy="242316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1984248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5A8"/>
                </a:solidFill>
                <a:latin typeface="Aptos"/>
              </a:rPr>
              <a:t>MONTH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395728"/>
            <a:ext cx="19659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Controlled pilot
Fix critical issues
Train drivers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2331720" cy="242316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84248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B8C6"/>
                </a:solidFill>
                <a:latin typeface="Aptos"/>
              </a:rPr>
              <a:t>MONTH 3–4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95728"/>
            <a:ext cx="19659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Expand TODAs
Grow passengers
Measure adoption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828800"/>
            <a:ext cx="2331720" cy="242316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984248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AE3D"/>
                </a:solidFill>
                <a:latin typeface="Aptos"/>
              </a:rPr>
              <a:t>MONTH 5–6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395728"/>
            <a:ext cx="19659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Scale
Measure economics
Prepare next stage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EE8F1"/>
                </a:solidFill>
                <a:latin typeface="Aptos"/>
              </a:rPr>
              <a:t>During the free period, the system can still calculate the future platform fee internally — so we know the economics before charging.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D8FA2"/>
                </a:solidFill>
                <a:latin typeface="Aptos"/>
              </a:rPr>
              <a:t>TODARIDE  •  TODA PILOT PARTNER 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D8FA2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06 | WHAT TODA PARTNERS RECEIVE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Practical benefits from Day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337560" cy="141732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842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9D6C"/>
                </a:solidFill>
                <a:latin typeface="Aptos"/>
              </a:rPr>
              <a:t>Digital Driver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95728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Organized information and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37560" cy="141732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842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5A8"/>
                </a:solidFill>
                <a:latin typeface="Aptos"/>
              </a:rPr>
              <a:t>Booking 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395728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Better visibility of ride 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3337560" cy="141732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9842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B8C6"/>
                </a:solidFill>
                <a:latin typeface="Aptos"/>
              </a:rPr>
              <a:t>Driver Recruitment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395728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A new digital channel for passenger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3337560" cy="141732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8130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AE3D"/>
                </a:solidFill>
                <a:latin typeface="Aptos"/>
              </a:rPr>
              <a:t>Safety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224528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Support for safer passenger/driver interactions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657600"/>
            <a:ext cx="3337560" cy="141732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8130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5A8"/>
                </a:solidFill>
                <a:latin typeface="Aptos"/>
              </a:rPr>
              <a:t>Community Promotion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224528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Joint TODA + TodaRide campaigns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657600"/>
            <a:ext cx="3337560" cy="141732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8130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9D6C"/>
                </a:solidFill>
                <a:latin typeface="Aptos"/>
              </a:rPr>
              <a:t>Pilot Influence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224528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Your feedback directly shapes the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AB8C6"/>
                </a:solidFill>
                <a:latin typeface="Aptos"/>
              </a:rPr>
              <a:t>TODA PARTNERS ARE NOT JUST USERS — THEY ARE CO-DESIGNERS OF THE PILOT.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D8FA2"/>
                </a:solidFill>
                <a:latin typeface="Aptos"/>
              </a:rPr>
              <a:t>TODARIDE  •  TODA PILOT PARTNER PROGRAM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D8FA2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07 | DRIVER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Why drivers should participate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74920" cy="123444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75688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9D6C"/>
                </a:solidFill>
                <a:latin typeface="Aptos"/>
              </a:rPr>
              <a:t>More opportunities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4709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Receive digital booking requests from passengers.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20240"/>
            <a:ext cx="5074920" cy="123444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75688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5A8"/>
                </a:solidFill>
                <a:latin typeface="Aptos"/>
              </a:rPr>
              <a:t>Simple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87168"/>
            <a:ext cx="4709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Accept → Navigate → Start → Complete.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20440"/>
            <a:ext cx="5074920" cy="123444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75888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B8C6"/>
                </a:solidFill>
                <a:latin typeface="Aptos"/>
              </a:rPr>
              <a:t>Identity &amp;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87368"/>
            <a:ext cx="4709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Passenger sees verified driver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520440"/>
            <a:ext cx="5074920" cy="123444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675888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AE3D"/>
                </a:solidFill>
                <a:latin typeface="Aptos"/>
              </a:rPr>
              <a:t>Trip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087368"/>
            <a:ext cx="4709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Completed rides and activity are recorded.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Pilot participation is designed to be low-risk: no TodaRide platform fee during the founding period.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D8FA2"/>
                </a:solidFill>
                <a:latin typeface="Aptos"/>
              </a:rPr>
              <a:t>TODARIDE  •  TODA PILOT PARTNER PROGRAM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D8FA2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08 | SAFETY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More than a ride — a safer ride.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EE8F1"/>
                </a:solidFill>
                <a:latin typeface="Aptos"/>
              </a:rPr>
              <a:t>Safety should be one of TodaRide's strongest differentiators.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074920" cy="123444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7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9D6C"/>
                </a:solidFill>
                <a:latin typeface="Aptos"/>
              </a:rPr>
              <a:t>Driver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41448"/>
            <a:ext cx="4709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Identity and required driver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74519"/>
            <a:ext cx="5074920" cy="123444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29967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5A8"/>
                </a:solidFill>
                <a:latin typeface="Aptos"/>
              </a:rPr>
              <a:t>Trip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41448"/>
            <a:ext cx="4709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A digital record of the ride.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74920" cy="123444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30168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E4848"/>
                </a:solidFill>
                <a:latin typeface="Aptos"/>
              </a:rPr>
              <a:t>Emergency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41648"/>
            <a:ext cx="4709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Designed for rapid reporting and response.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474720"/>
            <a:ext cx="5074920" cy="123444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630168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B8C6"/>
                </a:solidFill>
                <a:latin typeface="Aptos"/>
              </a:rPr>
              <a:t>Student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41648"/>
            <a:ext cx="4709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Additional emphasis on safe transportation for students.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EE8F1"/>
                </a:solidFill>
                <a:latin typeface="Aptos"/>
              </a:rPr>
              <a:t>Safety features should be tested and refined with real TODA partners before broad deployment.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D8FA2"/>
                </a:solidFill>
                <a:latin typeface="Aptos"/>
              </a:rPr>
              <a:t>TODARIDE  •  TODA PILOT PARTNER PROGRAM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D8FA2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09 | PILOT 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What we ask from TODA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B8C6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Nominate pilot drivers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78308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EE8F1"/>
                </a:solidFill>
                <a:latin typeface="Aptos"/>
              </a:rPr>
              <a:t>Select responsible drivers who can participate consistently.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9D6C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Help onboard drivers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60604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EE8F1"/>
                </a:solidFill>
                <a:latin typeface="Aptos"/>
              </a:rPr>
              <a:t>Assist with orientation and verification.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AE3D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Promote to passengers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42900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EE8F1"/>
                </a:solidFill>
                <a:latin typeface="Aptos"/>
              </a:rPr>
              <a:t>Introduce TodaRide to the local community.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5A8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251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Give honest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25196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EE8F1"/>
                </a:solidFill>
                <a:latin typeface="Aptos"/>
              </a:rPr>
              <a:t>Report bugs, concerns and improvement ideas.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9D6C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0749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Help us build 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07492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EE8F1"/>
                </a:solidFill>
                <a:latin typeface="Aptos"/>
              </a:rPr>
              <a:t>Work with us on safety and responsible use.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D8FA2"/>
                </a:solidFill>
                <a:latin typeface="Aptos"/>
              </a:rPr>
              <a:t>TODARIDE  •  TODA PILOT PARTNER PROGRAM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D8FA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10 | PILOT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Six months to prove the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2423160" cy="196596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5856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5A8"/>
                </a:solidFill>
                <a:latin typeface="Aptos"/>
              </a:rPr>
              <a:t>1–2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70048"/>
            <a:ext cx="20574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CONTROLLED PILOT
Test core ride experience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103120"/>
            <a:ext cx="2423160" cy="196596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25856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9D6C"/>
                </a:solidFill>
                <a:latin typeface="Aptos"/>
              </a:rPr>
              <a:t>3–4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670048"/>
            <a:ext cx="20574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COMMUNITY GROWTH
Add TODAs + passengers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03120"/>
            <a:ext cx="2423160" cy="196596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25856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AE3D"/>
                </a:solidFill>
                <a:latin typeface="Apto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670048"/>
            <a:ext cx="20574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SCALE &amp; MEASURE
Review safety + economics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2103120"/>
            <a:ext cx="2423160" cy="196596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225856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B8C6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670048"/>
            <a:ext cx="20574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DECISION
Agree on next operating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9204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EE8F1"/>
                </a:solidFill>
                <a:latin typeface="Aptos"/>
              </a:rPr>
              <a:t>At Month 6, the pilot can be extended if more testing is needed. The objective is sustainable adoption — not charging as soon as possible.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D8FA2"/>
                </a:solidFill>
                <a:latin typeface="Aptos"/>
              </a:rPr>
              <a:t>TODARIDE  •  TODA PILOT PARTNER PROGRAM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D8FA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11 | HOW WE MEASURE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We will measure the pilot with TODAs — not just for TODAs.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337560" cy="141732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842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5A8"/>
                </a:solidFill>
                <a:latin typeface="Aptos"/>
              </a:rPr>
              <a:t>Active TODAs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95728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How many organizations are actively participating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37560" cy="141732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842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9D6C"/>
                </a:solidFill>
                <a:latin typeface="Aptos"/>
              </a:rPr>
              <a:t>Active Drivers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395728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Drivers completing rides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3337560" cy="141732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9842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B8C6"/>
                </a:solidFill>
                <a:latin typeface="Aptos"/>
              </a:rPr>
              <a:t>Completed Rides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395728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Actual usage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3337560" cy="141732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8130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AE3D"/>
                </a:solidFill>
                <a:latin typeface="Aptos"/>
              </a:rPr>
              <a:t>Repeat Passengers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224528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Evidence of real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657600"/>
            <a:ext cx="3337560" cy="141732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8130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5A8"/>
                </a:solidFill>
                <a:latin typeface="Aptos"/>
              </a:rPr>
              <a:t>Booking Success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224528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How reliably requests become rides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657600"/>
            <a:ext cx="3337560" cy="141732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8130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9D6C"/>
                </a:solidFill>
                <a:latin typeface="Aptos"/>
              </a:rPr>
              <a:t>Safety /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224528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Issues, reports and response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AB8C6"/>
                </a:solidFill>
                <a:latin typeface="Aptos"/>
              </a:rPr>
              <a:t>No invented targets: the pilot establishes TodaRide's real baseline and operating benchmarks.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D8FA2"/>
                </a:solidFill>
                <a:latin typeface="Aptos"/>
              </a:rPr>
              <a:t>TODARIDE  •  TODA PILOT PARTNER PROGRAM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D8FA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12 | SOCIAL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Your participation helps build a community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EE8F1"/>
                </a:solidFill>
                <a:latin typeface="Aptos"/>
              </a:rPr>
              <a:t>TodaRide is designed to create business value while supporting community impact.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291840" cy="246888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9D6C"/>
                </a:solidFill>
                <a:latin typeface="Aptos"/>
              </a:rPr>
              <a:t>TODA + DRIVERS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Better digital access to passengers
More organized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65960"/>
            <a:ext cx="3291840" cy="246888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2140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5A8"/>
                </a:solidFill>
                <a:latin typeface="Aptos"/>
              </a:rPr>
              <a:t>PASSENGERS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532888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Convenience
Safety-oriented experience
Better accountability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65960"/>
            <a:ext cx="3291840" cy="246888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12140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AE3D"/>
                </a:solidFill>
                <a:latin typeface="Aptos"/>
              </a:rPr>
              <a:t>COMMUNITY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532888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A portion of future net distributable profit is proposed for social-impact programs.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9D6C"/>
                </a:solidFill>
                <a:latin typeface="Aptos"/>
              </a:rPr>
              <a:t>Rotary Club of San Jose Golden Harvest — NGO Social Impact Partner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8640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AB8C6"/>
                </a:solidFill>
                <a:latin typeface="Aptos"/>
              </a:rPr>
              <a:t>RCC of San Jose Golden Harvest — Community Marketing &amp; Promotion Partner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D8FA2"/>
                </a:solidFill>
                <a:latin typeface="Aptos"/>
              </a:rPr>
              <a:t>TODARIDE  •  TODA PILOT PARTNER 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D8FA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13 | AFTER THE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We will decide together based on real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246120" cy="251460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7568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9D6C"/>
                </a:solidFill>
                <a:latin typeface="Aptos"/>
              </a:rPr>
              <a:t>IF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2880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Expand to more TODAs
More drivers
More passengers
More communities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20240"/>
            <a:ext cx="3246120" cy="251460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7568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5A8"/>
                </a:solidFill>
                <a:latin typeface="Aptos"/>
              </a:rPr>
              <a:t>IF IT NEEDS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487168"/>
            <a:ext cx="2880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Improve the app
Fix operational issues
Refine safety
Extend pilot if needed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920240"/>
            <a:ext cx="3246120" cy="251460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07568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AE3D"/>
                </a:solidFill>
                <a:latin typeface="Aptos"/>
              </a:rPr>
              <a:t>IF WE MONETIZE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87168"/>
            <a:ext cx="2880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Introduce a transparent operating model based on demonstrated value and sustainable economics.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The six-month pilot is a learning commitment — not a promise to charge immediately after six months.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D8FA2"/>
                </a:solidFill>
                <a:latin typeface="Aptos"/>
              </a:rPr>
              <a:t>TODARIDE  •  TODA PILOT PARTNER 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D8FA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B8C6"/>
                </a:solidFill>
                <a:latin typeface="Aptos"/>
              </a:rPr>
              <a:t>14 | THE INVITATION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Become a TodaRide Founding Pilot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AB8C6"/>
                </a:solidFill>
                <a:latin typeface="Aptos"/>
              </a:rPr>
              <a:t>JOIN THE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Aptos"/>
              </a:rPr>
              <a:t>6 MONTHS
ZERO PLATFORM FEES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886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EE8F1"/>
                </a:solidFill>
                <a:latin typeface="Aptos"/>
              </a:rPr>
              <a:t>Help us test. Help us improve. Help us build a safer and stronger tricycle mobility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828800"/>
            <a:ext cx="3246120" cy="315468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98424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9D6C"/>
                </a:solidFill>
                <a:latin typeface="Aptos"/>
              </a:rPr>
              <a:t>WHAT HAPPENS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395728"/>
            <a:ext cx="28803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1. TODA agrees to pilot
2. Select pilot drivers
3. Driver onboarding
4. Passenger introduction
5. Launch
6. Weekly feedback
7. Measure &amp; improve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AB8C6"/>
                </a:solidFill>
                <a:latin typeface="Aptos"/>
              </a:rPr>
              <a:t>TODARIDE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580644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MORE THAN A RIDE — A SAFER RIDE.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D8FA2"/>
                </a:solidFill>
                <a:latin typeface="Aptos"/>
              </a:rPr>
              <a:t>TODARIDE  •  TODA PILOT PARTNER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D8FA2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B8C6"/>
                </a:solidFill>
                <a:latin typeface="Aptos"/>
              </a:rPr>
              <a:t>Let's build TodaRide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7432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EE8F1"/>
                </a:solidFill>
                <a:latin typeface="Aptos"/>
              </a:rPr>
              <a:t>TODAs • Drivers • Passengers • Community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49039"/>
            <a:ext cx="3200400" cy="137160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904487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9D6C"/>
                </a:solidFill>
                <a:latin typeface="Aptos"/>
              </a:rPr>
              <a:t>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1596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6 Months
Zero Platform Fees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749039"/>
            <a:ext cx="3200400" cy="137160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904487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5A8"/>
                </a:solidFill>
                <a:latin typeface="Aptos"/>
              </a:rPr>
              <a:t>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31596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Safety
Reliability
Community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749039"/>
            <a:ext cx="3200400" cy="1371600"/>
          </a:xfrm>
          <a:prstGeom prst="roundRect">
            <a:avLst/>
          </a:prstGeom>
          <a:solidFill>
            <a:srgbClr val="152A41"/>
          </a:solidFill>
          <a:ln>
            <a:solidFill>
              <a:srgbClr val="30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904487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AE3D"/>
                </a:solidFill>
                <a:latin typeface="Aptos"/>
              </a:rPr>
              <a:t>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31596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Prove → Improve →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521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D8FA2"/>
                </a:solidFill>
                <a:latin typeface="Aptos"/>
              </a:rPr>
              <a:t>Proposed for discussion with TODA pilot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