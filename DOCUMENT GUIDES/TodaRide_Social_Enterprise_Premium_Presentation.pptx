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TODARIDE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4C4"/>
                </a:solidFill>
                <a:latin typeface="Aptos"/>
              </a:rPr>
              <a:t>SOCIAL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8046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Corporate Composition,
Ownership &amp; Social Impact
Sharing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1605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9F1"/>
                </a:solidFill>
                <a:latin typeface="Aptos"/>
              </a:rPr>
              <a:t>A proposed structure for a sustainable, investable and community-centered tricycle mobility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230368"/>
            <a:ext cx="4754880" cy="347472"/>
          </a:xfrm>
          <a:prstGeom prst="roundRect">
            <a:avLst/>
          </a:prstGeom>
          <a:solidFill>
            <a:srgbClr val="28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2578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FOUNDER-LED  •  INVESTOR-READY  •  COMMUNITY-DRIVEN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0807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48497"/>
                </a:solidFill>
                <a:latin typeface="Aptos"/>
              </a:rPr>
              <a:t>August 2026  |  Proposed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01  | 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A social enterprise built for shared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179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9F1"/>
                </a:solidFill>
                <a:latin typeface="Aptos"/>
              </a:rPr>
              <a:t>TodaRide separates commercial ownership from social-impact participation.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429000" cy="242316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COMMERCIAL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34640"/>
            <a:ext cx="302666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A for-profit technology company owns and operates the TodaRide platform, brand, systems and future expansion.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3429000" cy="242316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40487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SOCIAL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834640"/>
            <a:ext cx="302666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A defined portion of success supports passenger safety, student safety and community projects.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240280"/>
            <a:ext cx="3429000" cy="242316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40487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COMMUNITY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834640"/>
            <a:ext cx="302666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Rotary and RCC provide trusted community relationships, promotion and social-impact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4C4"/>
                </a:solidFill>
                <a:latin typeface="Aptos"/>
              </a:rPr>
              <a:t>Core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10235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Profit for sustainability  •  Technology for mobility  •  Growth for 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02  |  CORPORATE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Keep ownership, investment and social impact distinct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TODARIDE TECHNOLOGIES,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359152"/>
            <a:ext cx="3840480" cy="347472"/>
          </a:xfrm>
          <a:prstGeom prst="roundRect">
            <a:avLst/>
          </a:prstGeom>
          <a:solidFill>
            <a:srgbClr val="1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38658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FOR-PROFIT SOCIAL ENTERPRISE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240280" cy="132588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227832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Founder
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57600"/>
            <a:ext cx="18379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Equity / contribution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063240"/>
            <a:ext cx="2240280" cy="132588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3227832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Investors
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3657600"/>
            <a:ext cx="18379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Equity / contribution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063240"/>
            <a:ext cx="2240280" cy="132588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3227832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Developers &amp;
Key Personnel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657600"/>
            <a:ext cx="18379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Equity / contribution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3063240"/>
            <a:ext cx="2240280" cy="132588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85248" y="3227832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Strategic + Future
Pools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5248" y="3657600"/>
            <a:ext cx="18379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Equity /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92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BB4C4"/>
                </a:solidFill>
                <a:latin typeface="Aptos"/>
              </a:rPr>
              <a:t>SOCIAL IMPACT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Rotary Club of San Jose Golden Harvest  •  NGO Partner  •  0% 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4243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9F1"/>
                </a:solidFill>
                <a:latin typeface="Aptos"/>
              </a:rPr>
              <a:t>RCC of San Jose Golden Harvest  •  Community Marketing &amp; Promotion Partner  •  0% equity initially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03  | 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Proposed capitalization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179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9F1"/>
                </a:solidFill>
                <a:latin typeface="Aptos"/>
              </a:rPr>
              <a:t>Starting framework; finalize after valuation, legal and investor structuring.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658368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1226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Cesar Macalinao — Founder &amp; Main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1122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Founder contribution, technology/IP and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2084831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BB4C4"/>
                </a:solidFill>
                <a:latin typeface="Aptos"/>
              </a:rPr>
              <a:t>35%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698480" cy="658368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88950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Investors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8895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Cash capital 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286207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6AD3D"/>
                </a:solidFill>
                <a:latin typeface="Aptos"/>
              </a:rPr>
              <a:t>30%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10698480" cy="658368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6674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Developers &amp; Key Personnel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6667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Technical, operating and marketing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363931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89769"/>
                </a:solidFill>
                <a:latin typeface="Aptos"/>
              </a:rPr>
              <a:t>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698480" cy="658368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4439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Strategic / Community Partner 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4439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Strategic growth and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441655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1B5B99"/>
                </a:solidFill>
                <a:latin typeface="Aptos"/>
              </a:rPr>
              <a:t>10%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10698480" cy="658368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22122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Future Investor / Employee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522122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Future capital and key talent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519379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BB4C4"/>
                </a:solidFill>
                <a:latin typeface="Aptos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897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4C4"/>
                </a:solidFill>
                <a:latin typeface="Aptos"/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583387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>
                <a:solidFill>
                  <a:srgbClr val="F8FAFC"/>
                </a:solidFill>
                <a:latin typeface="Aptos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04  |  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Cesar's 35% is contribution-based — not a ₱350,000 cash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BB4C4"/>
                </a:solidFill>
                <a:latin typeface="Aptos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07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Founder Equity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74519"/>
            <a:ext cx="251460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203911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2468879"/>
            <a:ext cx="21122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Founder / business concept / leadership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874519"/>
            <a:ext cx="251460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7607" y="203911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7" y="2468879"/>
            <a:ext cx="21122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Technology, software and IP contribution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874519"/>
            <a:ext cx="251460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203911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₱0*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468879"/>
            <a:ext cx="21122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Not automatically a cash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0060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* Final treatment and valuation of contributed software, IP and services must be documented and approved under the final corporate 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623560"/>
            <a:ext cx="4206240" cy="347472"/>
          </a:xfrm>
          <a:prstGeom prst="roundRect">
            <a:avLst/>
          </a:prstGeom>
          <a:solidFill>
            <a:srgbClr val="28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5099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FOUNDER CONTRIBUTION = VALUE, NOT JUST CASH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05  |  INVESTORS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Capital enters through valuation — not arbitrary percentages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108960" cy="256032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8483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514600"/>
            <a:ext cx="270662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Pre-money valuation
₱4,000,000
Investor cash
₱1,000,000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BB4C4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920240"/>
            <a:ext cx="3108960" cy="256032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08483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POST-MONEY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514600"/>
            <a:ext cx="270662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₱5,000,000
Investor ownership
₱1M ÷ ₱5M =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BB4C4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920240"/>
            <a:ext cx="2514600" cy="256032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208483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WHY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514600"/>
            <a:ext cx="211226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Clear valuation
Transparent dilution
Repeatable future rounds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9F1"/>
                </a:solidFill>
                <a:latin typeface="Aptos"/>
              </a:rPr>
              <a:t>Investor capital can fund product development, infrastructure, marketing, onboarding, payment systems, operations and expansion.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06  | 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15% Developer &amp; Key Personnel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179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9F1"/>
                </a:solidFill>
                <a:latin typeface="Aptos"/>
              </a:rPr>
              <a:t>Reward meaningful contribution while protecting the company from early departures.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514600" cy="201168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Lead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60320"/>
            <a:ext cx="21122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Architecture + core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65960"/>
            <a:ext cx="2514600" cy="201168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13055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Mobile /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560320"/>
            <a:ext cx="21122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Application +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2514600" cy="201168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13055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560320"/>
            <a:ext cx="21122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Driver + customer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65960"/>
            <a:ext cx="2514600" cy="201168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0888" y="2130552"/>
            <a:ext cx="2112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Marketing / 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2560320"/>
            <a:ext cx="21122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Acquisition + partnerships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4C4"/>
                </a:solidFill>
                <a:latin typeface="Aptos"/>
              </a:rPr>
              <a:t>Recommended vesting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4622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4-year vesting  •  25% per year  •  unvested equity returns to the pool when a contributor exits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394960"/>
            <a:ext cx="4846320" cy="347472"/>
          </a:xfrm>
          <a:prstGeom prst="roundRect">
            <a:avLst/>
          </a:prstGeom>
          <a:solidFill>
            <a:srgbClr val="28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422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EQUITY IS EARNED THROUGH CONTINUING VALUE 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07  |  ROTARY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Rotary as the trusted NGO Social Impact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179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9F1"/>
                </a:solidFill>
                <a:latin typeface="Aptos"/>
              </a:rPr>
              <a:t>Rotary participates in mission and impact — not dividends.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89769"/>
                </a:solidFill>
                <a:latin typeface="Aptos"/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Corporate equity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783080"/>
            <a:ext cx="2423160" cy="25146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947672"/>
            <a:ext cx="2020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377440"/>
            <a:ext cx="202082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NGO Partner
Community projects
Passenger &amp; student safety
Approved Rotary initiatives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783080"/>
            <a:ext cx="2423160" cy="25146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1947672"/>
            <a:ext cx="2020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SOCIAL FUND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377440"/>
            <a:ext cx="202082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Proposed:
5% of Net Distributable Profit
Subject to legal, tax and Rotary/TRF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783080"/>
            <a:ext cx="2423160" cy="25146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1947672"/>
            <a:ext cx="2020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2377440"/>
            <a:ext cx="2020824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Trust
Governance
Community reach
Social credibility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No dividends. No commercial ownership. A defined social-impact channel instead.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08  |  RCC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RCC as the Community Marketing &amp; Promotion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179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9F1"/>
                </a:solidFill>
                <a:latin typeface="Aptos"/>
              </a:rPr>
              <a:t>Use measurable incentives instead of permanent equity at launch.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074920" cy="1234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Driver recruitment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68879"/>
            <a:ext cx="4672583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Qualify and onboard TODA drivers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074920" cy="1234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03911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Community promotion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468879"/>
            <a:ext cx="4672583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Barangay / local 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74920" cy="1234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63931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Passenger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69080"/>
            <a:ext cx="4672583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Explain booking + safety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74720"/>
            <a:ext cx="5074920" cy="1234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3639312"/>
            <a:ext cx="4672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Student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069080"/>
            <a:ext cx="4672583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Safety campaigns and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4C4"/>
                </a:solidFill>
                <a:latin typeface="Aptos"/>
              </a:rPr>
              <a:t>Potential incentive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023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Performance-based recruitment fees  •  local revenue incentive  •  approved social-impact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09  | 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Separate booking revenue from distributable profit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2011680" cy="18288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31343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Gross 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43200"/>
            <a:ext cx="16093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Passenger 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48497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148840"/>
            <a:ext cx="2011680" cy="18288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31343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Driver/TODA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743200"/>
            <a:ext cx="16093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Driver earnings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4849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148840"/>
            <a:ext cx="2011680" cy="18288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7" y="231343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Platform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7" y="2743200"/>
            <a:ext cx="16093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Payment + tech +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48497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148840"/>
            <a:ext cx="2011680" cy="18288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31343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743200"/>
            <a:ext cx="16093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Marketing + admin + tax/reserves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48497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148840"/>
            <a:ext cx="2011680" cy="18288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0968" y="231343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Net 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0968" y="2743200"/>
            <a:ext cx="16093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Distributable profit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89769"/>
                </a:solidFill>
                <a:latin typeface="Aptos"/>
              </a:rPr>
              <a:t>SOCIAL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074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5% proposed allocation from Net Distributable 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10  | 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A balanced return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179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9F1"/>
                </a:solidFill>
                <a:latin typeface="Aptos"/>
              </a:rPr>
              <a:t>Shareholder returns remain separate from the social-impact commitment.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246120" cy="27432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1  •  OPERATE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68879"/>
            <a:ext cx="2843784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Cover driver payments, technology, support, marketing, administration, taxes and reserves.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246120" cy="27432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03911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2  •  DISTRIBUTE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468879"/>
            <a:ext cx="2843784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Net distributable profit can support dividends or reinvestment according to board/shareholder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74519"/>
            <a:ext cx="3246120" cy="27432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03911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3  • 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468879"/>
            <a:ext cx="2843784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Proposed 5% of net distributable profit goes to approved social-impact programs.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The model creates three winners: a sustainable company, participating investors/contributors, and the community.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11  | 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Founder-led. Investor-aware. Community-connected.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337560" cy="13716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Cesar Macalinao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23160"/>
            <a:ext cx="29352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Founder / CEO or CTO
Technology + product +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13716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9933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Investor Representative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423160"/>
            <a:ext cx="29352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Board
Capital + financial oversight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337560" cy="13716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9933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Business /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423160"/>
            <a:ext cx="29352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Board
Governance +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337560" cy="13716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22191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Transport /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251960"/>
            <a:ext cx="29352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Board
TODA + field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657600"/>
            <a:ext cx="3337560" cy="137160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3822191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Independent /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251960"/>
            <a:ext cx="293522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Aptos"/>
              </a:rPr>
              <a:t>Board
Independent perspective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2E9F1"/>
                </a:solidFill>
                <a:latin typeface="Aptos"/>
              </a:rPr>
              <a:t>Rotary may be invited as a non-voting Social Impact Adviser / Observer.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12  | 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Lean leadership with clear accountability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FOUNDER / CEO-CTO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206654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Product
Technology
IP
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993392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COO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423160"/>
            <a:ext cx="206654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TODA relations
Driver onboarding
Operations
Customer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MARKETING / 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23160"/>
            <a:ext cx="206654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Passenger growth
Community campaigns
Partnerships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46888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1993392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FINANCE /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2423160"/>
            <a:ext cx="206654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Accounting
Investor reporting
Cash controls
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800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89769"/>
                </a:solidFill>
                <a:latin typeface="Aptos"/>
              </a:rPr>
              <a:t>SOCIAL IMPACT 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23036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TodaRide ↔ Rotary ↔ RCC ↔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13  | 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Five structural safeguards before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4C4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Document Founder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Value existing software, IP and services properly.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24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89769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24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Protect the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243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Use clear developer agreements and IP assignment/licensing.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655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AD3D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65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Use Vesting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6557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Protect the 15% contributor pool from early departures.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068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B99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068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Formalize 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0682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Separate Rotary NGO and RCC community agreements from equity.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48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E4848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1480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Validate Investment Terms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14807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9F1"/>
                </a:solidFill>
                <a:latin typeface="Aptos"/>
              </a:rPr>
              <a:t>Have Philippine legal/CPA advisers review capitalization, tax and securities compliance.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B4C4"/>
                </a:solidFill>
                <a:latin typeface="Aptos"/>
              </a:rPr>
              <a:t>14  |  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Recommended final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5179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9F1"/>
                </a:solidFill>
                <a:latin typeface="Aptos"/>
              </a:rPr>
              <a:t>Simple enough to explain. Flexible enough to grow.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05740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Cesar Macalinao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16550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35%
Founder + Main Developer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205740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9933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Investors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423160"/>
            <a:ext cx="16550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30%
Capital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828800"/>
            <a:ext cx="205740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8" y="19933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Developers &amp; Key Personnel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423160"/>
            <a:ext cx="16550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15%
Work + expertise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828800"/>
            <a:ext cx="205740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19933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Strategic / Community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2423160"/>
            <a:ext cx="16550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10%
Growth partners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828800"/>
            <a:ext cx="2057400" cy="237744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8" y="1993392"/>
            <a:ext cx="1655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4C4"/>
                </a:solidFill>
                <a:latin typeface="Aptos"/>
              </a:rPr>
              <a:t>Future 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0968" y="2423160"/>
            <a:ext cx="165506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10%
Future capital + talent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8006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89769"/>
                </a:solidFill>
                <a:latin typeface="Aptos"/>
              </a:rPr>
              <a:t>ROTARY CLUB OF SAN JOSE GOLDEN HARVEST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663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0% EQUITY  •  NGO SOCIAL IMPACT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5099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2E9F1"/>
                </a:solidFill>
                <a:latin typeface="Aptos"/>
              </a:rPr>
              <a:t>RCC OF SAN JOSE GOLDEN HARVEST  •  0% EQUITY INITIALLY  •  COMMUNITY MARKETING &amp; PROMOTION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05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48497"/>
                </a:solidFill>
                <a:latin typeface="Aptos"/>
              </a:rPr>
              <a:t>TODARIDE  •  SOCIAL 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74849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TODARIDE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BB4C4"/>
                </a:solidFill>
                <a:latin typeface="Aptos"/>
              </a:rPr>
              <a:t>A social enterprise for safer, smarter community mobility.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4231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9F1"/>
                </a:solidFill>
                <a:latin typeface="Aptos"/>
              </a:rPr>
              <a:t>Founder-led technology  •  Investable growth  •  Community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37560"/>
            <a:ext cx="3246120" cy="150876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50215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9769"/>
                </a:solidFill>
                <a:latin typeface="Aptos"/>
              </a:rPr>
              <a:t>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931920"/>
            <a:ext cx="28437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Drivers, passengers, students and communities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337560"/>
            <a:ext cx="3246120" cy="150876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350215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B99"/>
                </a:solidFill>
                <a:latin typeface="Aptos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931920"/>
            <a:ext cx="28437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Technology that enables safe, accessible mobility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337560"/>
            <a:ext cx="3246120" cy="1508760"/>
          </a:xfrm>
          <a:prstGeom prst="roundRect">
            <a:avLst/>
          </a:prstGeom>
          <a:solidFill>
            <a:srgbClr val="162840"/>
          </a:solidFill>
          <a:ln>
            <a:solidFill>
              <a:srgbClr val="31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350215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D3D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931920"/>
            <a:ext cx="28437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A defined pathway from business success to community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48497"/>
                </a:solidFill>
                <a:latin typeface="Aptos"/>
              </a:rPr>
              <a:t>PROPOSED FOR DISCUSSION &amp; FORMALIZATION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