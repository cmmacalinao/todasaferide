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F8FAFC"/>
                </a:solidFill>
                <a:latin typeface="Aptos"/>
              </a:rPr>
              <a:t>TODARIDE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25296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B8C6"/>
                </a:solidFill>
                <a:latin typeface="Aptos"/>
              </a:rPr>
              <a:t>INCOME &amp; PROMOTION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Turn riders, drivers,
TODA partners and local businesses
into a sustainable growth engine.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2519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AE6F0"/>
                </a:solidFill>
                <a:latin typeface="Aptos"/>
              </a:rPr>
              <a:t>Revenue • Rewards • Referrals • Advertising • Community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029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297AA"/>
                </a:solidFill>
                <a:latin typeface="Aptos"/>
              </a:rPr>
              <a:t>Recommended strategy for the 6-month Founding Partner Pilot and beyond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297AA"/>
                </a:solidFill>
                <a:latin typeface="Aptos"/>
              </a:rPr>
              <a:t>TODARIDE  •  INCOME &amp; PROMOTION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8297AA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AB8C6"/>
                </a:solidFill>
                <a:latin typeface="Aptos"/>
              </a:rPr>
              <a:t>01 |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The TodaRide growth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AE6F0"/>
                </a:solidFill>
                <a:latin typeface="Aptos"/>
              </a:rPr>
              <a:t>Build three income engines while using rewards to accelerate adoption.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3383280" cy="246888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1226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9D6C"/>
                </a:solidFill>
                <a:latin typeface="Aptos"/>
              </a:rPr>
              <a:t>1  RIDE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3017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Platform commission on completed rides after the pilot.
Primary long-term income.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65960"/>
            <a:ext cx="3383280" cy="246888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11226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5A8"/>
                </a:solidFill>
                <a:latin typeface="Aptos"/>
              </a:rPr>
              <a:t>2  ADVERTISING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32888"/>
            <a:ext cx="3017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Local businesses, sponsored placements, product promotions and campaigns.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965960"/>
            <a:ext cx="3383280" cy="246888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11226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AE3D"/>
                </a:solidFill>
                <a:latin typeface="Aptos"/>
              </a:rPr>
              <a:t>3  PARTNERSHIPS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532888"/>
            <a:ext cx="3017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Corporate, community and campaign sponsorships.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AB8C6"/>
                </a:solidFill>
                <a:latin typeface="Aptos"/>
              </a:rPr>
              <a:t>REWARDS + REFERRALS sit underneath all three — driving more users, rides and repeat engagement.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297AA"/>
                </a:solidFill>
                <a:latin typeface="Aptos"/>
              </a:rPr>
              <a:t>TODARIDE  •  INCOME &amp; PROMOTION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8297AA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AB8C6"/>
                </a:solidFill>
                <a:latin typeface="Aptos"/>
              </a:rPr>
              <a:t>02 |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Six-month Founding Partner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AE6F0"/>
                </a:solidFill>
                <a:latin typeface="Aptos"/>
              </a:rPr>
              <a:t>Remove the barrier to joining, then use real data to prove the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337560" cy="251460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20824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5A8"/>
                </a:solidFill>
                <a:latin typeface="Aptos"/>
              </a:rPr>
              <a:t>MONTHS 1–2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41448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Controlled pilot
• Core ride flow
• Safety
• GPS
• Payments
• Notifications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74519"/>
            <a:ext cx="3337560" cy="251460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020824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9D6C"/>
                </a:solidFill>
                <a:latin typeface="Aptos"/>
              </a:rPr>
              <a:t>MONTHS 3–4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41448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Community growth
• More TODAs
• More drivers
• More passengers
• Referral campaigns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874519"/>
            <a:ext cx="3337560" cy="251460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9" y="2020824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AE3D"/>
                </a:solidFill>
                <a:latin typeface="Aptos"/>
              </a:rPr>
              <a:t>MONTHS 5–6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2441448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Scale &amp; measure
• Retention
• Ride volume
• Safety
• Economics
• Next-stage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PILOT OFFER: 0% TODARIDE PLATFORM FEE FOR THE FIRST 6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297AA"/>
                </a:solidFill>
                <a:latin typeface="Aptos"/>
              </a:rPr>
              <a:t>TODARIDE  •  INCOME &amp; PROMOTION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8297AA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AB8C6"/>
                </a:solidFill>
                <a:latin typeface="Aptos"/>
              </a:rPr>
              <a:t>03 |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1. Ride Commission — primary income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AE6F0"/>
                </a:solidFill>
                <a:latin typeface="Aptos"/>
              </a:rPr>
              <a:t>Don't rush the permanent rate. Test the economics during the free pilot.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3200400" cy="237744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6654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B8C6"/>
                </a:solidFill>
                <a:latin typeface="Aptos"/>
              </a:rPr>
              <a:t>ILLUSTRATIVE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87168"/>
            <a:ext cx="2834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Passenger fare
₱100
5% → ₱5
7.5% → ₱7.50
10% → ₱10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920240"/>
            <a:ext cx="3200400" cy="237744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6654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9D6C"/>
                </a:solidFill>
                <a:latin typeface="Aptos"/>
              </a:rPr>
              <a:t>DURING 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87168"/>
            <a:ext cx="2834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Actual charge:
₱0 platform fee
But the system records theoretical commission.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920240"/>
            <a:ext cx="3200400" cy="237744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06654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AE3D"/>
                </a:solidFill>
                <a:latin typeface="Aptos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487168"/>
            <a:ext cx="2834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By Month 5–6, TodaRide can compare:
• Revenue potential
• Driver economics
• Passenger behavior
• Sustainability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8348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DAE6F0"/>
                </a:solidFill>
                <a:latin typeface="Aptos"/>
              </a:rPr>
              <a:t>Final commission should be based on demonstrated value and sustainable operating economics.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297AA"/>
                </a:solidFill>
                <a:latin typeface="Aptos"/>
              </a:rPr>
              <a:t>TODARIDE  •  INCOME &amp; PROMOTION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8297AA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AB8C6"/>
                </a:solidFill>
                <a:latin typeface="Aptos"/>
              </a:rPr>
              <a:t>04 |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2. Local Business Advertising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AE6F0"/>
                </a:solidFill>
                <a:latin typeface="Aptos"/>
              </a:rPr>
              <a:t>TodaRide can become a local digital marketplace — not just a ride-booking 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29000" cy="260604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75104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5A8"/>
                </a:solidFill>
                <a:latin typeface="Aptos"/>
              </a:rPr>
              <a:t>BASIC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95728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Business listing
Logo
Contact information
Illustrative: ₱500/month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29000" cy="260604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75104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B8C6"/>
                </a:solidFill>
                <a:latin typeface="Aptos"/>
              </a:rPr>
              <a:t>STANDARD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95728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Featured listing
Promo coupon
App placement
Illustrative: ₱1,500/month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828800"/>
            <a:ext cx="3429000" cy="260604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975104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AE3D"/>
                </a:solidFill>
                <a:latin typeface="Aptos"/>
              </a:rPr>
              <a:t>PREMIUM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2395728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Featured promotion
Location targeting
Sponsored notification
Rewards campaign
Illustrative: ₱3,000–₱5,000/month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297AA"/>
                </a:solidFill>
                <a:latin typeface="Aptos"/>
              </a:rPr>
              <a:t>Pricing is illustrative — validate with real local advertiser demand.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297AA"/>
                </a:solidFill>
                <a:latin typeface="Aptos"/>
              </a:rPr>
              <a:t>TODARIDE  •  INCOME &amp; PROMOTION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8297AA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AB8C6"/>
                </a:solidFill>
                <a:latin typeface="Aptos"/>
              </a:rPr>
              <a:t>05 | ADVERTISING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What can businesses promote?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AE6F0"/>
                </a:solidFill>
                <a:latin typeface="Aptos"/>
              </a:rPr>
              <a:t>Create useful offers instead of intrusive advertising.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468880" cy="123444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9751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9D6C"/>
                </a:solidFill>
                <a:latin typeface="Aptos"/>
              </a:rPr>
              <a:t>Restaurants &amp; food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9572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Sponsored offer
or featured listing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828800"/>
            <a:ext cx="2468880" cy="123444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9751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5A8"/>
                </a:solidFill>
                <a:latin typeface="Aptos"/>
              </a:rPr>
              <a:t>Pharmacies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39572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Sponsored offer
or featured listing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28800"/>
            <a:ext cx="2468880" cy="123444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9751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B8C6"/>
                </a:solidFill>
                <a:latin typeface="Aptos"/>
              </a:rPr>
              <a:t>Convenience stores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9572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Sponsored offer
or featured listing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828800"/>
            <a:ext cx="2468880" cy="123444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9751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AE3D"/>
                </a:solidFill>
                <a:latin typeface="Aptos"/>
              </a:rPr>
              <a:t>Water refilling stations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39572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Sponsored offer
or featured listing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37560"/>
            <a:ext cx="2468880" cy="123444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4838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9D6C"/>
                </a:solidFill>
                <a:latin typeface="Aptos"/>
              </a:rPr>
              <a:t>Motorcycle shops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904487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Sponsored offer
or featured listing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3337560"/>
            <a:ext cx="2468880" cy="123444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4838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5A8"/>
                </a:solidFill>
                <a:latin typeface="Aptos"/>
              </a:rPr>
              <a:t>Schools / tutorial centers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904487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Sponsored offer
or featured listing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337560"/>
            <a:ext cx="2468880" cy="123444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4838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B8C6"/>
                </a:solidFill>
                <a:latin typeface="Aptos"/>
              </a:rPr>
              <a:t>Banks / e-wallets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904487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Sponsored offer
or featured listing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3337560"/>
            <a:ext cx="2468880" cy="123444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34838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AE3D"/>
                </a:solidFill>
                <a:latin typeface="Aptos"/>
              </a:rPr>
              <a:t>Local retail &amp; services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904487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Sponsored offer
or featured listing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2578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Example: “10% OFF at a nearby partner store — show your TodaRide Rewards code.”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7395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297AA"/>
                </a:solidFill>
                <a:latin typeface="Aptos"/>
              </a:rPr>
              <a:t>TODARIDE  •  INCOME &amp; PROMOTION STRATEGY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1852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8297AA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AB8C6"/>
                </a:solidFill>
                <a:latin typeface="Aptos"/>
              </a:rPr>
              <a:t>06 | PASSENGER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TodaRide Coins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AE6F0"/>
                </a:solidFill>
                <a:latin typeface="Aptos"/>
              </a:rPr>
              <a:t>Reward actions that create real business value.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2468880" cy="132588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751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5A8"/>
                </a:solidFill>
                <a:latin typeface="Aptos"/>
              </a:rPr>
              <a:t>REGISTER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95728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+50 Coins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828800"/>
            <a:ext cx="2468880" cy="132588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9751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B8C6"/>
                </a:solidFill>
                <a:latin typeface="Aptos"/>
              </a:rPr>
              <a:t>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395728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+50 Coins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2468880" cy="132588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751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9D6C"/>
                </a:solidFill>
                <a:latin typeface="Aptos"/>
              </a:rPr>
              <a:t>FIRST RIDE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95728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+100 Coins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828800"/>
            <a:ext cx="2468880" cy="132588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19751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AE3D"/>
                </a:solidFill>
                <a:latin typeface="Aptos"/>
              </a:rPr>
              <a:t>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395728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+5–10 Coins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429000"/>
            <a:ext cx="2468880" cy="132588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5753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5A8"/>
                </a:solidFill>
                <a:latin typeface="Aptos"/>
              </a:rPr>
              <a:t>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95928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+15–20 Coins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3429000"/>
            <a:ext cx="2468880" cy="132588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35753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9D6C"/>
                </a:solidFill>
                <a:latin typeface="Aptos"/>
              </a:rPr>
              <a:t>REFER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3995928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+100 Coins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429000"/>
            <a:ext cx="2468880" cy="132588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5753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B8C6"/>
                </a:solidFill>
                <a:latin typeface="Aptos"/>
              </a:rPr>
              <a:t>SHARE CAMPAIGN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995928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+20 Coins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3429000"/>
            <a:ext cx="2468880" cy="132588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35753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AE3D"/>
                </a:solidFill>
                <a:latin typeface="Aptos"/>
              </a:rPr>
              <a:t>CHALLENGE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3995928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+50–250 Coins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25780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297AA"/>
                </a:solidFill>
                <a:latin typeface="Aptos"/>
              </a:rPr>
              <a:t>Illustrative rewards — configurable and optimized during the pilot.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7395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297AA"/>
                </a:solidFill>
                <a:latin typeface="Aptos"/>
              </a:rPr>
              <a:t>TODARIDE  •  INCOME &amp; PROMOTION STRATEGY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1852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8297AA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AB8C6"/>
                </a:solidFill>
                <a:latin typeface="Aptos"/>
              </a:rPr>
              <a:t>07 | REFERRAL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Turn passengers into your marketing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AE6F0"/>
                </a:solidFill>
                <a:latin typeface="Aptos"/>
              </a:rPr>
              <a:t>Referral rewards should be tied to a completed first ride.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AB8C6"/>
                </a:solidFill>
                <a:latin typeface="Aptos"/>
              </a:rPr>
              <a:t>PASSENGER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2103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297AA"/>
                </a:solidFill>
                <a:latin typeface="Aptos"/>
              </a:rPr>
              <a:t>→ shares code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2057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9D6C"/>
                </a:solidFill>
                <a:latin typeface="Aptos"/>
              </a:rPr>
              <a:t>PASSENGER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103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297AA"/>
                </a:solidFill>
                <a:latin typeface="Aptos"/>
              </a:rPr>
              <a:t>→ registers + verifies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20574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7AE3D"/>
                </a:solidFill>
                <a:latin typeface="Aptos"/>
              </a:rPr>
              <a:t>FIRST RIDE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2971800"/>
            <a:ext cx="8138160" cy="146304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311810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9D6C"/>
                </a:solidFill>
                <a:latin typeface="Aptos"/>
              </a:rPr>
              <a:t>REWARD 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53872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Only after the referred passenger completes the first qualifying ride.
Then award Coins to both parties.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834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This discourages fake accounts and makes the reward pay for actual adoption.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297AA"/>
                </a:solidFill>
                <a:latin typeface="Aptos"/>
              </a:rPr>
              <a:t>TODARIDE  •  INCOME &amp; PROMOTION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8297AA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AB8C6"/>
                </a:solidFill>
                <a:latin typeface="Aptos"/>
              </a:rPr>
              <a:t>08 | SOCIAL PROMOTION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Social-media rewards — but controlled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AE6F0"/>
                </a:solidFill>
                <a:latin typeface="Aptos"/>
              </a:rPr>
              <a:t>Reward approved campaign participation, not unlimited sharing.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246888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751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B8C6"/>
                </a:solidFill>
                <a:latin typeface="Aptos"/>
              </a:rPr>
              <a:t>CAMPAIGN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95728"/>
            <a:ext cx="2926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“Share TodaRide — Earn 20 Coins”
Facebook • TikTok • Other approved channels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291840" cy="246888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9751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AE3D"/>
                </a:solidFill>
                <a:latin typeface="Aptos"/>
              </a:rPr>
              <a:t>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395728"/>
            <a:ext cx="2926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1 verified action per campaign
Daily/weekly limits
Anti-spam controls
Fraud detection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3291840" cy="246888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9751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9D6C"/>
                </a:solidFill>
                <a:latin typeface="Aptos"/>
              </a:rPr>
              <a:t>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395728"/>
            <a:ext cx="2926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More awareness
More referrals
More passengers
More rides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DAE6F0"/>
                </a:solidFill>
                <a:latin typeface="Aptos"/>
              </a:rPr>
              <a:t>The objective is customer acquisition — not simply paying for clicks or shares.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297AA"/>
                </a:solidFill>
                <a:latin typeface="Aptos"/>
              </a:rPr>
              <a:t>TODARIDE  •  INCOME &amp; PROMOTION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8297AA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AB8C6"/>
                </a:solidFill>
                <a:latin typeface="Aptos"/>
              </a:rPr>
              <a:t>09 | LOYALTY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Convert Coins into ride credits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AE6F0"/>
                </a:solidFill>
                <a:latin typeface="Aptos"/>
              </a:rPr>
              <a:t>The reward system should feed back into the ride business.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200400" cy="256032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7510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9D6C"/>
                </a:solidFill>
                <a:latin typeface="Aptos"/>
              </a:rPr>
              <a:t>EARN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95728"/>
            <a:ext cx="28346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Ride
Rate
Refer
Share campaign
Complete challenge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28800"/>
            <a:ext cx="3200400" cy="256032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7510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B8C6"/>
                </a:solidFill>
                <a:latin typeface="Aptos"/>
              </a:rPr>
              <a:t>WALLET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95728"/>
            <a:ext cx="28346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Example:
1,250 Coins
100 Coins → ₱5 ride credit
200 → ₱10
500 → ₱25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828800"/>
            <a:ext cx="3200400" cy="256032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9" y="197510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AE3D"/>
                </a:solidFill>
                <a:latin typeface="Aptos"/>
              </a:rPr>
              <a:t>REDEEM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2395728"/>
            <a:ext cx="28346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Apply Coins to eligible ride credit
→ More bookings
→ More repeat usage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297AA"/>
                </a:solidFill>
                <a:latin typeface="Aptos"/>
              </a:rPr>
              <a:t>Keep Coins primarily non-transferable and non-withdrawable.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297AA"/>
                </a:solidFill>
                <a:latin typeface="Aptos"/>
              </a:rPr>
              <a:t>TODARIDE  •  INCOME &amp; PROMOTION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8297AA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AB8C6"/>
                </a:solidFill>
                <a:latin typeface="Aptos"/>
              </a:rPr>
              <a:t>10 | DRIVER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Don't forget the driver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AE6F0"/>
                </a:solidFill>
                <a:latin typeface="Aptos"/>
              </a:rPr>
              <a:t>Reward good service and safe operating behavior.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337560" cy="137160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975104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9D6C"/>
                </a:solidFill>
                <a:latin typeface="Aptos"/>
              </a:rPr>
              <a:t>Completed rides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95728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Points / incentives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337560" cy="137160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975104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5A8"/>
                </a:solidFill>
                <a:latin typeface="Aptos"/>
              </a:rPr>
              <a:t>Good ratings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395728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Recognition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337560" cy="137160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975104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B8C6"/>
                </a:solidFill>
                <a:latin typeface="Aptos"/>
              </a:rPr>
              <a:t>Low cancellations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395728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Performance 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74720"/>
            <a:ext cx="3337560" cy="137160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621024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AE3D"/>
                </a:solidFill>
                <a:latin typeface="Aptos"/>
              </a:rPr>
              <a:t>Safety 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041648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Bonus / badge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474720"/>
            <a:ext cx="3337560" cy="137160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3621024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5A8"/>
                </a:solidFill>
                <a:latin typeface="Aptos"/>
              </a:rPr>
              <a:t>Updated documents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041648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Compliance points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474720"/>
            <a:ext cx="3337560" cy="137160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621024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9D6C"/>
                </a:solidFill>
                <a:latin typeface="Aptos"/>
              </a:rPr>
              <a:t>Driver referrals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041648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Referral incentive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Possible status levels: BRONZE → SILVER → GOLD → TODARIDE ELITE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297AA"/>
                </a:solidFill>
                <a:latin typeface="Aptos"/>
              </a:rPr>
              <a:t>TODARIDE  •  INCOME &amp; PROMOTION 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8297AA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AB8C6"/>
                </a:solidFill>
                <a:latin typeface="Aptos"/>
              </a:rPr>
              <a:t>11 |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The TodaRide growth flywheel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AE6F0"/>
                </a:solidFill>
                <a:latin typeface="Aptos"/>
              </a:rPr>
              <a:t>Every component should reinforce the next.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68880"/>
            <a:ext cx="1691640" cy="1143000"/>
          </a:xfrm>
          <a:prstGeom prst="roundRect">
            <a:avLst/>
          </a:prstGeom>
          <a:solidFill>
            <a:srgbClr val="12273D"/>
          </a:solidFill>
          <a:ln>
            <a:solidFill>
              <a:srgbClr val="2C9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724912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9D6C"/>
                </a:solidFill>
                <a:latin typeface="Aptos"/>
              </a:rPr>
              <a:t>MORE
DRIVERS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834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297AA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2468880"/>
            <a:ext cx="1691640" cy="1143000"/>
          </a:xfrm>
          <a:prstGeom prst="roundRect">
            <a:avLst/>
          </a:prstGeom>
          <a:solidFill>
            <a:srgbClr val="12273D"/>
          </a:solidFill>
          <a:ln>
            <a:solidFill>
              <a:srgbClr val="1F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2724912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65A8"/>
                </a:solidFill>
                <a:latin typeface="Aptos"/>
              </a:rPr>
              <a:t>MORE
RIDES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834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297AA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468880"/>
            <a:ext cx="1691640" cy="1143000"/>
          </a:xfrm>
          <a:prstGeom prst="roundRect">
            <a:avLst/>
          </a:prstGeom>
          <a:solidFill>
            <a:srgbClr val="12273D"/>
          </a:solidFill>
          <a:ln>
            <a:solidFill>
              <a:srgbClr val="2A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2724912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AB8C6"/>
                </a:solidFill>
                <a:latin typeface="Aptos"/>
              </a:rPr>
              <a:t>MORE
PASSENGERS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9" y="2834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297AA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799" y="2468880"/>
            <a:ext cx="1691640" cy="1143000"/>
          </a:xfrm>
          <a:prstGeom prst="roundRect">
            <a:avLst/>
          </a:prstGeom>
          <a:solidFill>
            <a:srgbClr val="12273D"/>
          </a:solidFill>
          <a:ln>
            <a:solidFill>
              <a:srgbClr val="E7A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39" y="2724912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7AE3D"/>
                </a:solidFill>
                <a:latin typeface="Aptos"/>
              </a:rPr>
              <a:t>MORE
REWARDS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834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297AA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2468880"/>
            <a:ext cx="1691640" cy="1143000"/>
          </a:xfrm>
          <a:prstGeom prst="roundRect">
            <a:avLst/>
          </a:prstGeom>
          <a:solidFill>
            <a:srgbClr val="12273D"/>
          </a:solidFill>
          <a:ln>
            <a:solidFill>
              <a:srgbClr val="2C9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724912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9D6C"/>
                </a:solidFill>
                <a:latin typeface="Aptos"/>
              </a:rPr>
              <a:t>MORE
REFERRALS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2834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297AA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20" y="2468880"/>
            <a:ext cx="1691640" cy="1143000"/>
          </a:xfrm>
          <a:prstGeom prst="roundRect">
            <a:avLst/>
          </a:prstGeom>
          <a:solidFill>
            <a:srgbClr val="12273D"/>
          </a:solidFill>
          <a:ln>
            <a:solidFill>
              <a:srgbClr val="1F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0" y="2724912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65A8"/>
                </a:solidFill>
                <a:latin typeface="Aptos"/>
              </a:rPr>
              <a:t>MORE
BUSINESS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7091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More business value → more TODAs want to join → cycle repeats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297AA"/>
                </a:solidFill>
                <a:latin typeface="Aptos"/>
              </a:rPr>
              <a:t>TODARIDE  •  INCOME &amp; PROMOTION STRATEGY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8297AA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AB8C6"/>
                </a:solidFill>
                <a:latin typeface="Aptos"/>
              </a:rPr>
              <a:t>12 | COMMUNITY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Social enterprise + local economy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AE6F0"/>
                </a:solidFill>
                <a:latin typeface="Aptos"/>
              </a:rPr>
              <a:t>TodaRide can create value beyond the ride itself.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291840" cy="256032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082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B8C6"/>
                </a:solidFill>
                <a:latin typeface="Aptos"/>
              </a:rPr>
              <a:t>PASSENGERS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41448"/>
            <a:ext cx="29260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Rewards
Convenience
Safety-oriented experience
Local offers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74519"/>
            <a:ext cx="3291840" cy="256032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02082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9D6C"/>
                </a:solidFill>
                <a:latin typeface="Aptos"/>
              </a:rPr>
              <a:t>TODA + DRIVERS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41448"/>
            <a:ext cx="29260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Digital demand
Better organization
Community visibility
Performance 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74519"/>
            <a:ext cx="3291840" cy="256032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02082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AE3D"/>
                </a:solidFill>
                <a:latin typeface="Aptos"/>
              </a:rPr>
              <a:t>LOCAL BUSINESSES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441448"/>
            <a:ext cx="29260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Targeted promotion
New customers
Campaign analytics
Community reach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AE6F0"/>
                </a:solidFill>
                <a:latin typeface="Aptos"/>
              </a:rPr>
              <a:t>Future social-impact allocations can support approved community programs through the TodaRide Social Enterprise structure.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297AA"/>
                </a:solidFill>
                <a:latin typeface="Aptos"/>
              </a:rPr>
              <a:t>TODARIDE  •  INCOME &amp; PROMOTION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8297AA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AB8C6"/>
                </a:solidFill>
                <a:latin typeface="Aptos"/>
              </a:rPr>
              <a:t>13 |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Build the rewards &amp; promotion engine into TodaRide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AE6F0"/>
                </a:solidFill>
                <a:latin typeface="Aptos"/>
              </a:rPr>
              <a:t>This should be integrated with the existing app — not a separate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2468880" cy="137160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938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B8C6"/>
                </a:solidFill>
                <a:latin typeface="Aptos"/>
              </a:rPr>
              <a:t>reward_wallet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50008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Balances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783080"/>
            <a:ext cx="2468880" cy="137160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92938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9D6C"/>
                </a:solidFill>
                <a:latin typeface="Aptos"/>
              </a:rPr>
              <a:t>reward_transactions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350008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Ledger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2468880" cy="137160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2938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5A8"/>
                </a:solidFill>
                <a:latin typeface="Aptos"/>
              </a:rPr>
              <a:t>reward_rules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50008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Rules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783080"/>
            <a:ext cx="2468880" cy="137160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192938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AE3D"/>
                </a:solidFill>
                <a:latin typeface="Aptos"/>
              </a:rPr>
              <a:t>referral_codes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350008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Referrals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429000"/>
            <a:ext cx="2468880" cy="137160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5753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B8C6"/>
                </a:solidFill>
                <a:latin typeface="Aptos"/>
              </a:rPr>
              <a:t>promotional_campaigns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95928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Campaigns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3429000"/>
            <a:ext cx="2468880" cy="137160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35753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9D6C"/>
                </a:solidFill>
                <a:latin typeface="Aptos"/>
              </a:rPr>
              <a:t>advertiser_accounts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3995928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Businesses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429000"/>
            <a:ext cx="2468880" cy="137160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5753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5A8"/>
                </a:solidFill>
                <a:latin typeface="Aptos"/>
              </a:rPr>
              <a:t>advertisement_campaigns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995928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Ads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3429000"/>
            <a:ext cx="2468880" cy="137160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35753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AE3D"/>
                </a:solidFill>
                <a:latin typeface="Aptos"/>
              </a:rPr>
              <a:t>ride_credits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3995928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Credits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2578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AE6F0"/>
                </a:solidFill>
                <a:latin typeface="Aptos"/>
              </a:rPr>
              <a:t>All reward movements should be auditable, configurable and protected against duplicate/fraudulent activity.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7395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297AA"/>
                </a:solidFill>
                <a:latin typeface="Aptos"/>
              </a:rPr>
              <a:t>TODARIDE  •  INCOME &amp; PROMOTION STRATEGY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1852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8297AA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AB8C6"/>
                </a:solidFill>
                <a:latin typeface="Aptos"/>
              </a:rPr>
              <a:t>14 |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Protect the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AE6F0"/>
                </a:solidFill>
                <a:latin typeface="Aptos"/>
              </a:rPr>
              <a:t>The rewards system must never become an uncontrolled cost center.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2468880" cy="123444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938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9D6C"/>
                </a:solidFill>
                <a:latin typeface="Aptos"/>
              </a:rPr>
              <a:t>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5000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Referral reward only after qualifying ride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783080"/>
            <a:ext cx="2468880" cy="123444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92938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5A8"/>
                </a:solidFill>
                <a:latin typeface="Aptos"/>
              </a:rPr>
              <a:t>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35000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Limits on social rewards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2468880" cy="123444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2938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B8C6"/>
                </a:solidFill>
                <a:latin typeface="Aptos"/>
              </a:rPr>
              <a:t>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5000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Duplicate-account detection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783080"/>
            <a:ext cx="2468880" cy="123444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192938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AE3D"/>
                </a:solidFill>
                <a:latin typeface="Aptos"/>
              </a:rP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35000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No 5-star-rating incentives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291839"/>
            <a:ext cx="2468880" cy="123444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4381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9D6C"/>
                </a:solidFill>
                <a:latin typeface="Aptos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85876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Coin ledger for every movement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3291839"/>
            <a:ext cx="2468880" cy="123444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34381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5A8"/>
                </a:solidFill>
                <a:latin typeface="Aptos"/>
              </a:rPr>
              <a:t>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385876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Non-transferable / non-withdrawable Coins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291839"/>
            <a:ext cx="2468880" cy="123444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4381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B8C6"/>
                </a:solidFill>
                <a:latin typeface="Aptos"/>
              </a:rPr>
              <a:t>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85876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Configurable expiration rules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3291839"/>
            <a:ext cx="2468880" cy="123444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34381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AE3D"/>
                </a:solidFill>
                <a:latin typeface="Aptos"/>
              </a:rPr>
              <a:t>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385876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Campaign-level budgets and limits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1663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AB8C6"/>
                </a:solidFill>
                <a:latin typeface="Aptos"/>
              </a:rPr>
              <a:t>Every promotion should have a measurable acquisition or retention objective.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7395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297AA"/>
                </a:solidFill>
                <a:latin typeface="Aptos"/>
              </a:rPr>
              <a:t>TODARIDE  •  INCOME &amp; PROMOTION STRATEGY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1852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8297AA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AB8C6"/>
                </a:solidFill>
                <a:latin typeface="Aptos"/>
              </a:rPr>
              <a:t>15 |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What should we measure?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2468880" cy="123444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938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5A8"/>
                </a:solidFill>
                <a:latin typeface="Aptos"/>
              </a:rPr>
              <a:t>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5000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Registered + active passengers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783080"/>
            <a:ext cx="2468880" cy="123444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92938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9D6C"/>
                </a:solidFill>
                <a:latin typeface="Aptos"/>
              </a:rPr>
              <a:t>Drivers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35000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Active and retained drivers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83080"/>
            <a:ext cx="2468880" cy="123444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2938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B8C6"/>
                </a:solidFill>
                <a:latin typeface="Aptos"/>
              </a:rPr>
              <a:t>Rides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5000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Completed rides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783080"/>
            <a:ext cx="2468880" cy="123444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192938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AE3D"/>
                </a:solidFill>
                <a:latin typeface="Aptos"/>
              </a:rPr>
              <a:t>Retention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35000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Repeat passenger 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291839"/>
            <a:ext cx="2468880" cy="123444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4381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5A8"/>
                </a:solidFill>
                <a:latin typeface="Aptos"/>
              </a:rPr>
              <a:t>Referrals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5876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Qualified referral rate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3291839"/>
            <a:ext cx="2468880" cy="123444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34381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9D6C"/>
                </a:solidFill>
                <a:latin typeface="Aptos"/>
              </a:rPr>
              <a:t>Rewards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385876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Coins earned vs redeemed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291839"/>
            <a:ext cx="2468880" cy="123444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4381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B8C6"/>
                </a:solidFill>
                <a:latin typeface="Aptos"/>
              </a:rPr>
              <a:t>Ads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85876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Advertiser revenue + campaign performance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3291839"/>
            <a:ext cx="2468880" cy="1234440"/>
          </a:xfrm>
          <a:prstGeom prst="roundRect">
            <a:avLst/>
          </a:prstGeom>
          <a:solidFill>
            <a:srgbClr val="12273D"/>
          </a:solidFill>
          <a:ln>
            <a:solidFill>
              <a:srgbClr val="324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34381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AE3D"/>
                </a:solidFill>
                <a:latin typeface="Aptos"/>
              </a:rPr>
              <a:t>Economics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385876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Theoretical vs actual revenue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2578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Month 5–6 should answer: Is TodaRide valuable enough to monetize sustainably?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297AA"/>
                </a:solidFill>
                <a:latin typeface="Aptos"/>
              </a:rPr>
              <a:t>TODARIDE  •  INCOME &amp; PROMOTION STRATEGY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52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8297AA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AB8C6"/>
                </a:solidFill>
                <a:latin typeface="Aptos"/>
              </a:rPr>
              <a:t>16 | PRIORITY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Recommended implementation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AE6F0"/>
                </a:solidFill>
                <a:latin typeface="Aptos"/>
              </a:rPr>
              <a:t>Focus on the core ride experience first, then build the growth engine.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642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B8C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642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Core rides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66420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AE6F0"/>
                </a:solidFill>
                <a:latin typeface="Aptos"/>
              </a:rPr>
              <a:t>Make booking, acceptance, trip completion and payments reliable.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0428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9D6C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042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30428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AE6F0"/>
                </a:solidFill>
                <a:latin typeface="Aptos"/>
              </a:rPr>
              <a:t>Verification, trip records, support and reporting.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4436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5A8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9443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94436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AE6F0"/>
                </a:solidFill>
                <a:latin typeface="Aptos"/>
              </a:rPr>
              <a:t>Recruit TODAs, drivers and passengers.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844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7AE3D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5844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Rewards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58444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AE6F0"/>
                </a:solidFill>
                <a:latin typeface="Aptos"/>
              </a:rPr>
              <a:t>Coins, referral and ride credits.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24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B8C6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224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Advertising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22452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AE6F0"/>
                </a:solidFill>
                <a:latin typeface="Aptos"/>
              </a:rPr>
              <a:t>Local business partners and campaigns.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646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9D6C"/>
                </a:solidFill>
                <a:latin typeface="Aptos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8646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Economics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486460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AE6F0"/>
                </a:solidFill>
                <a:latin typeface="Aptos"/>
              </a:rPr>
              <a:t>Measure theoretical commission and operating cost.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50468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5A8"/>
                </a:solidFill>
                <a:latin typeface="Aptos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5046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Monetization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550468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AE6F0"/>
                </a:solidFill>
                <a:latin typeface="Aptos"/>
              </a:rPr>
              <a:t>Use real pilot data to set the next model.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7395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297AA"/>
                </a:solidFill>
                <a:latin typeface="Aptos"/>
              </a:rPr>
              <a:t>TODARIDE  •  INCOME &amp; PROMOTION STRATEGY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8297AA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B8C6"/>
                </a:solidFill>
                <a:latin typeface="Aptos"/>
              </a:rPr>
              <a:t>THE TODARIDE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Aptos"/>
              </a:rPr>
              <a:t>More users.
More rides.
More value.
Sustainable revenue.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4069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C9D6C"/>
                </a:solidFill>
                <a:latin typeface="Aptos"/>
              </a:rPr>
              <a:t>6-Month Founding Partner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7091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AE6F0"/>
                </a:solidFill>
                <a:latin typeface="Aptos"/>
              </a:rPr>
              <a:t>REWARDS  •  REFERRALS  •  ADVERTISING  •  RIDE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62356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B8C6"/>
                </a:solidFill>
                <a:latin typeface="Aptos"/>
              </a:rPr>
              <a:t>MORE THAN A RIDE — A SAFER RIDE.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297AA"/>
                </a:solidFill>
                <a:latin typeface="Aptos"/>
              </a:rPr>
              <a:t>TODARIDE  •  INCOME &amp; PROMOTION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8297AA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